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15-4D04-8F7C-CCF7496CD874}"/>
              </c:ext>
            </c:extLst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15-4D04-8F7C-CCF7496CD874}"/>
              </c:ext>
            </c:extLst>
          </c:dPt>
          <c:dPt>
            <c:idx val="2"/>
            <c:invertIfNegative val="0"/>
            <c:bubble3D val="0"/>
            <c:spPr>
              <a:solidFill>
                <a:srgbClr val="E85D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15-4D04-8F7C-CCF7496CD874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15-4D04-8F7C-CCF7496CD8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 Product</c:v>
                </c:pt>
                <c:pt idx="1">
                  <c:v>2 Products</c:v>
                </c:pt>
                <c:pt idx="2">
                  <c:v>3 Products</c:v>
                </c:pt>
                <c:pt idx="3">
                  <c:v>4 Products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27.71</c:v>
                </c:pt>
                <c:pt idx="1">
                  <c:v>7.58</c:v>
                </c:pt>
                <c:pt idx="2">
                  <c:v>82.71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15-4D04-8F7C-CCF7496CD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</c:v>
                </c:pt>
                <c:pt idx="1">
                  <c:v>22.42</c:v>
                </c:pt>
                <c:pt idx="2">
                  <c:v>19.18</c:v>
                </c:pt>
                <c:pt idx="3">
                  <c:v>21.11</c:v>
                </c:pt>
                <c:pt idx="4">
                  <c:v>20.53</c:v>
                </c:pt>
                <c:pt idx="5">
                  <c:v>20.65</c:v>
                </c:pt>
                <c:pt idx="6">
                  <c:v>20.27</c:v>
                </c:pt>
                <c:pt idx="7">
                  <c:v>17.22</c:v>
                </c:pt>
                <c:pt idx="8">
                  <c:v>19.22</c:v>
                </c:pt>
                <c:pt idx="9">
                  <c:v>21.65</c:v>
                </c:pt>
                <c:pt idx="10">
                  <c:v>20.61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69-4910-828F-062428114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85D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0D-42DE-902C-2046F682724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D-42DE-902C-2046F68272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Inactive</c:v>
                </c:pt>
                <c:pt idx="1">
                  <c:v>Active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26.85</c:v>
                </c:pt>
                <c:pt idx="1">
                  <c:v>14.27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0D-42DE-902C-2046F68272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87-4572-BBA4-EDFF6C055CCF}"/>
              </c:ext>
            </c:extLst>
          </c:dPt>
          <c:dPt>
            <c:idx val="1"/>
            <c:invertIfNegative val="0"/>
            <c:bubble3D val="0"/>
            <c:spPr>
              <a:solidFill>
                <a:srgbClr val="E85D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87-4572-BBA4-EDFF6C055CCF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87-4572-BBA4-EDFF6C055C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Germany</c:v>
                </c:pt>
                <c:pt idx="1">
                  <c:v>France</c:v>
                </c:pt>
                <c:pt idx="2">
                  <c:v>Spain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39.96</c:v>
                </c:pt>
                <c:pt idx="1">
                  <c:v>39.76</c:v>
                </c:pt>
                <c:pt idx="2">
                  <c:v>20.27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A87-4572-BBA4-EDFF6C055C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87-477A-9D60-B695D530BF8B}"/>
              </c:ext>
            </c:extLst>
          </c:dPt>
          <c:dPt>
            <c:idx val="1"/>
            <c:invertIfNegative val="0"/>
            <c:bubble3D val="0"/>
            <c:spPr>
              <a:solidFill>
                <a:srgbClr val="E85D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87-477A-9D60-B695D530BF8B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87-477A-9D60-B695D530BF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Senior</c:v>
                </c:pt>
                <c:pt idx="1">
                  <c:v>Mid-Age</c:v>
                </c:pt>
                <c:pt idx="2">
                  <c:v>Young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45.45</c:v>
                </c:pt>
                <c:pt idx="1">
                  <c:v>18.37</c:v>
                </c:pt>
                <c:pt idx="2">
                  <c:v>7.56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87-477A-9D60-B695D530BF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85D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87-4807-9269-2AF81F0D9DB3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87-4807-9269-2AF81F0D9D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25.07</c:v>
                </c:pt>
                <c:pt idx="1">
                  <c:v>16.46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87-4807-9269-2AF81F0D9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846-4EA2-A66A-B820C9BF005D}"/>
              </c:ext>
            </c:extLst>
          </c:dPt>
          <c:dPt>
            <c:idx val="1"/>
            <c:invertIfNegative val="0"/>
            <c:bubble3D val="0"/>
            <c:spPr>
              <a:solidFill>
                <a:srgbClr val="E85D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46-4EA2-A66A-B820C9BF005D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846-4EA2-A66A-B820C9BF00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23.73</c:v>
                </c:pt>
                <c:pt idx="1">
                  <c:v>20.309999999999999</c:v>
                </c:pt>
                <c:pt idx="2">
                  <c:v>19.82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46-4EA2-A66A-B820C9BF00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5D-4F83-BFFE-D5454D39005F}"/>
              </c:ext>
            </c:extLst>
          </c:dPt>
          <c:dPt>
            <c:idx val="1"/>
            <c:invertIfNegative val="0"/>
            <c:bubble3D val="0"/>
            <c:spPr>
              <a:solidFill>
                <a:srgbClr val="E85D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5D-4F83-BFFE-D5454D39005F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5D-4F83-BFFE-D5454D39005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Balance</c:v>
                </c:pt>
                <c:pt idx="1">
                  <c:v>Medium</c:v>
                </c:pt>
                <c:pt idx="2">
                  <c:v>Zero Balance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25.23</c:v>
                </c:pt>
                <c:pt idx="1">
                  <c:v>20.58</c:v>
                </c:pt>
                <c:pt idx="2">
                  <c:v>13.82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5D-4F83-BFFE-D5454D3900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F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33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880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EuroTrust Bank · 10,000 Customer Dataset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Behavioral &amp; Risk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005840"/>
            <a:ext cx="2286000" cy="1051560"/>
          </a:xfrm>
          <a:prstGeom prst="rect">
            <a:avLst/>
          </a:prstGeom>
          <a:solidFill>
            <a:srgbClr val="1E2F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0789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2304288"/>
            <a:ext cx="2286000" cy="1051560"/>
          </a:xfrm>
          <a:prstGeom prst="rect">
            <a:avLst/>
          </a:prstGeom>
          <a:solidFill>
            <a:srgbClr val="1E2F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3602736"/>
            <a:ext cx="2286000" cy="1051560"/>
          </a:xfrm>
          <a:prstGeom prst="rect">
            <a:avLst/>
          </a:prstGeom>
          <a:solidFill>
            <a:srgbClr val="1E2F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6758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₹185.59M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0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EuroTrust Bank is losing 1 in 5 customers, with churn concentrated in senior customers, inactive accounts, female segments, and Germany/France geographies. This signals systemic service or product-fit failures — not market-wide attrition.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965960" cy="1371600"/>
          </a:xfrm>
          <a:prstGeom prst="rect">
            <a:avLst/>
          </a:prstGeom>
          <a:solidFill>
            <a:srgbClr val="1E2F3E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828800"/>
            <a:ext cx="1965960" cy="1371600"/>
          </a:xfrm>
          <a:prstGeom prst="rect">
            <a:avLst/>
          </a:prstGeom>
          <a:solidFill>
            <a:srgbClr val="1E2F3E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4-Product Customers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828800"/>
            <a:ext cx="1965960" cy="1371600"/>
          </a:xfrm>
          <a:prstGeom prst="rect">
            <a:avLst/>
          </a:prstGeom>
          <a:solidFill>
            <a:srgbClr val="1E2F3E"/>
          </a:solidFill>
          <a:ln w="12700">
            <a:solidFill>
              <a:srgbClr val="E85D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Customer Churn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828800"/>
            <a:ext cx="1965960" cy="1371600"/>
          </a:xfrm>
          <a:prstGeom prst="rect">
            <a:avLst/>
          </a:prstGeom>
          <a:solidFill>
            <a:srgbClr val="1E2F3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03136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 Churn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02152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customers (3–4 products) show catastrophic churn — cross-sell strategy needs immediate audit.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86784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913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stands at ₹185.59M; inactivity is the strongest leading churn indicator (26.85% vs 14.27%).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471416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3982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France account for ~80% of customer base but churn at nearly 40% each — Spain is the retention benchmark.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HIGH-IMPACT INSIGHTS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749808"/>
          </a:xfrm>
          <a:prstGeom prst="rect">
            <a:avLst/>
          </a:prstGeom>
          <a:solidFill>
            <a:srgbClr val="1E2F3E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64008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503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850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Over-Bundling Crisis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11978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churn @ 4 products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87782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3–4 products churn at 82–100%. The 2-product cohort is the goldilocks zone (7.58% churn). Aggressive cross-selling is destroying LTV.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655064"/>
            <a:ext cx="8686800" cy="749808"/>
          </a:xfrm>
          <a:prstGeom prst="rect">
            <a:avLst/>
          </a:prstGeom>
          <a:solidFill>
            <a:srgbClr val="1E2F3E"/>
          </a:solidFill>
          <a:ln w="12700">
            <a:solidFill>
              <a:srgbClr val="E85D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55064"/>
            <a:ext cx="64008" cy="749808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7007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1700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Retention Gap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048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25.07% vs 16.46%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72821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churn 52% more than males. Likely gap in advisory, planning tools, and relationship-based service. High LTV segment being under-served.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505456"/>
            <a:ext cx="8686800" cy="749808"/>
          </a:xfrm>
          <a:prstGeom prst="rect">
            <a:avLst/>
          </a:prstGeom>
          <a:solidFill>
            <a:srgbClr val="1E2F3E"/>
          </a:solidFill>
          <a:ln w="12700">
            <a:solidFill>
              <a:srgbClr val="E85D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505456"/>
            <a:ext cx="64008" cy="749808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55117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" y="2551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Customer Exodus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45.45% churn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57860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hold highest balances but leave at highest rates. Possibly switching to wealth management firms or struggling with digital-only interfaces.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355848"/>
            <a:ext cx="8686800" cy="749808"/>
          </a:xfrm>
          <a:prstGeom prst="rect">
            <a:avLst/>
          </a:prstGeom>
          <a:solidFill>
            <a:srgbClr val="1E2F3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355848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40156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France Systemic Failure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each vs Spain 20.27%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429000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churn in two different markets points to bank-level product/pricing issues, not external factors. Spain is the benchmark to replicate.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206240"/>
            <a:ext cx="8686800" cy="749808"/>
          </a:xfrm>
          <a:prstGeom prst="rect">
            <a:avLst/>
          </a:prstGeom>
          <a:solidFill>
            <a:srgbClr val="1E2F3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4206240"/>
            <a:ext cx="64008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4251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1248" y="4251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as Churn Leading Indicator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" y="4599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26.85% vs 14.27%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427939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churn at nearly 2× active ones. Without an early-warning re-engagement system, most inactive customers are already exiting.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Number of Products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51560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(Years)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051560"/>
          <a:ext cx="43891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182880" y="3611880"/>
            <a:ext cx="8778240" cy="502920"/>
          </a:xfrm>
          <a:prstGeom prst="rect">
            <a:avLst/>
          </a:prstGeom>
          <a:solidFill>
            <a:srgbClr val="1E2F3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65760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ANOMALY: 2-product customers churn at just 7.58% — the lowest in the entire cohort. This is the bank's retention sweet spot and should be the primary cross-sell TARGET, not 3–4 product bundles.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Activity Status</a:t>
            </a:r>
            <a:endParaRPr lang="en-US" sz="1100" dirty="0"/>
          </a:p>
        </p:txBody>
      </p:sp>
      <p:graphicFrame>
        <p:nvGraphicFramePr>
          <p:cNvPr id="11" name="Chart 2"/>
          <p:cNvGraphicFramePr/>
          <p:nvPr/>
        </p:nvGraphicFramePr>
        <p:xfrm>
          <a:off x="182880" y="4462272"/>
          <a:ext cx="3931920" cy="54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Geography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058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Age Group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005840"/>
          <a:ext cx="42062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Gender</a:t>
            </a:r>
            <a:endParaRPr lang="en-US" sz="11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182880" y="3337560"/>
          <a:ext cx="2743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32004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Credit Score</a:t>
            </a:r>
            <a:endParaRPr lang="en-US" sz="1100" dirty="0"/>
          </a:p>
        </p:txBody>
      </p:sp>
      <p:graphicFrame>
        <p:nvGraphicFramePr>
          <p:cNvPr id="11" name="Chart 3"/>
          <p:cNvGraphicFramePr/>
          <p:nvPr/>
        </p:nvGraphicFramePr>
        <p:xfrm>
          <a:off x="3108960" y="3337560"/>
          <a:ext cx="2743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 6"/>
          <p:cNvSpPr/>
          <p:nvPr/>
        </p:nvSpPr>
        <p:spPr>
          <a:xfrm>
            <a:off x="612648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Balance Group</a:t>
            </a:r>
            <a:endParaRPr lang="en-US" sz="1100" dirty="0"/>
          </a:p>
        </p:txBody>
      </p:sp>
      <p:graphicFrame>
        <p:nvGraphicFramePr>
          <p:cNvPr id="13" name="Chart 4"/>
          <p:cNvGraphicFramePr/>
          <p:nvPr/>
        </p:nvGraphicFramePr>
        <p:xfrm>
          <a:off x="6035040" y="3337560"/>
          <a:ext cx="292608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 MATRIX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38404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804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804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804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8686800" cy="566928"/>
          </a:xfrm>
          <a:prstGeom prst="rect">
            <a:avLst/>
          </a:prstGeom>
          <a:solidFill>
            <a:srgbClr val="1E2F3E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07592"/>
            <a:ext cx="9144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307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17320" y="1225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4-Product Cross-Sell Strategy Broken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17320" y="14904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churn in 4-product customers. Aggressive bundling causing fee fatigue and forced exit.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2801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churn in 4-product customers. Aggressive bundling causing fee fatigue and forced exit.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3716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325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810512"/>
            <a:ext cx="8686800" cy="56692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1929384"/>
            <a:ext cx="9144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929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17320" y="18470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Segment-Level Retention Strategy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1732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approach applied across gender, age, and geo segments — failing each differently.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19019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approach applied across gender, age, and geo segments — failing each differently.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19872" y="19933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19476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432304"/>
            <a:ext cx="8686800" cy="566928"/>
          </a:xfrm>
          <a:prstGeom prst="rect">
            <a:avLst/>
          </a:prstGeom>
          <a:solidFill>
            <a:srgbClr val="1E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551176"/>
            <a:ext cx="914400" cy="27432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511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17320" y="2468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Inactivity Early-Warning System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17320" y="27340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customers churn at 26.85% but receive no automated re-engagement intervention.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2523744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customers churn at 26.85% but receive no automated re-engagement intervention.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19872" y="261518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25694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054096"/>
            <a:ext cx="8686800" cy="56692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172968"/>
            <a:ext cx="914400" cy="27432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172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417320" y="30906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France Lacking Local Playbook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417320" y="33558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~40% churn in two different markets — both need dedicated retention strategies.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3145536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~40% churn in two different markets — both need dedicated retention strategies.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32369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319125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3675888"/>
            <a:ext cx="8686800" cy="566928"/>
          </a:xfrm>
          <a:prstGeom prst="rect">
            <a:avLst/>
          </a:prstGeom>
          <a:solidFill>
            <a:srgbClr val="1E2F3E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3794760"/>
            <a:ext cx="914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417320" y="37124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Low-Credit Customers Financially Stressed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417320" y="3977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23.73% churn in low credit score segment. Financial stress driving exits, not dissatisfaction.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376732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23.73% churn in low credit score segment. Financial stress driving exits, not dissatisfaction.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19872" y="385876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8275320" y="38130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297680"/>
            <a:ext cx="8686800" cy="56692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0" name="Shape 48"/>
          <p:cNvSpPr/>
          <p:nvPr/>
        </p:nvSpPr>
        <p:spPr>
          <a:xfrm>
            <a:off x="274320" y="4416552"/>
            <a:ext cx="914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4165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417320" y="433425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High-Balance Customers at Revenue Risk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417320" y="45994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25.23% churn in highest balance group = disproportionate revenue exposure per customer.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83480" y="43891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25.23% churn in highest balance group = disproportionate revenue exposure per customer.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19872" y="448056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4"/>
          <p:cNvSpPr/>
          <p:nvPr/>
        </p:nvSpPr>
        <p:spPr>
          <a:xfrm>
            <a:off x="8275320" y="4434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346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1155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430684"/>
            <a:ext cx="3812345" cy="3383280"/>
          </a:xfrm>
          <a:prstGeom prst="rect">
            <a:avLst/>
          </a:prstGeom>
          <a:solidFill>
            <a:srgbClr val="1E2F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276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618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1554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cross-selling to 3–4 product customers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40487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product bundling &amp; satisfaction survey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18211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31729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" y="31089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relationship managers to at-risk cohort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95935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39502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3886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inactivity trigger system (60-day threshold)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914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685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EuroTrust Bank Customer Churn Analysis</dc:title>
  <dc:subject>PptxGenJS Presentation</dc:subject>
  <dc:creator>PptxGenJS</dc:creator>
  <cp:lastModifiedBy>Haradev Dagur</cp:lastModifiedBy>
  <cp:revision>2</cp:revision>
  <dcterms:created xsi:type="dcterms:W3CDTF">2026-03-31T06:22:43Z</dcterms:created>
  <dcterms:modified xsi:type="dcterms:W3CDTF">2026-03-31T06:29:16Z</dcterms:modified>
</cp:coreProperties>
</file>